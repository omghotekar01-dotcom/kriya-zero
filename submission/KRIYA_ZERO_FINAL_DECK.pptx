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658368"/>
            <a:ext cx="1600200" cy="347472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685800"/>
            <a:ext cx="1453896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SMART 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5852160" cy="8229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tos"/>
              </a:rPr>
              <a:t>KRIYA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84831"/>
            <a:ext cx="6309360" cy="7132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D3DFE8"/>
                </a:solidFill>
                <a:latin typeface="Aptos"/>
              </a:rPr>
              <a:t>The One-Demonstration Physical Skill Compiler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53512"/>
            <a:ext cx="594360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00" b="0">
                <a:solidFill>
                  <a:srgbClr val="B5C6D2"/>
                </a:solidFill>
                <a:latin typeface="Aptos"/>
              </a:rPr>
              <a:t>Show it once. Learn it anywhere. Prove you can do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960120"/>
            <a:ext cx="3931920" cy="4343400"/>
          </a:xfrm>
          <a:prstGeom prst="roundRect">
            <a:avLst/>
          </a:prstGeom>
          <a:solidFill>
            <a:srgbClr val="122238"/>
          </a:solidFill>
          <a:ln>
            <a:solidFill>
              <a:srgbClr val="2A4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463040"/>
            <a:ext cx="31089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00ADB5"/>
                </a:solidFill>
                <a:latin typeface="Aptos"/>
              </a:rPr>
              <a:t>DEMONSTRATION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1920240"/>
            <a:ext cx="64008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ptos"/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423160"/>
            <a:ext cx="2971800" cy="8686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EXECUTABLE
PROCEDURAL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3401568"/>
            <a:ext cx="64008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ptos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968496"/>
            <a:ext cx="29718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800" b="1">
                <a:solidFill>
                  <a:srgbClr val="00ADB5"/>
                </a:solidFill>
                <a:latin typeface="Aptos"/>
              </a:rPr>
              <a:t>LIVE VERIFIER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4700016"/>
            <a:ext cx="297180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AABECC"/>
                </a:solidFill>
                <a:latin typeface="Aptos"/>
              </a:rPr>
              <a:t>Android-first • phone-native • local-first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89320"/>
            <a:ext cx="5943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AABECC"/>
                </a:solidFill>
                <a:latin typeface="Aptos"/>
              </a:rPr>
              <a:t>Team XYRO  •  Om Ghotekar  •  VIT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28816"/>
            <a:ext cx="56692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A9B8C5"/>
                </a:solidFill>
                <a:latin typeface="Aptos"/>
              </a:rPr>
              <a:t>KRIYA ZERO  •  XYRO  •  iQOO Pune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28816"/>
            <a:ext cx="3657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A9B8C5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029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ADB5"/>
                </a:solidFill>
                <a:latin typeface="Apto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0B1628"/>
                </a:solidFill>
                <a:latin typeface="Aptos"/>
              </a:rPr>
              <a:t>Watching is not the same as proving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607040" cy="53035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637381"/>
                </a:solidFill>
                <a:latin typeface="Aptos"/>
              </a:rPr>
              <a:t>Practical education still struggles to verify whether a learner can correctly reproduce a physical procedure.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3429000" cy="3017520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468880"/>
            <a:ext cx="59436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00ADB5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971800"/>
            <a:ext cx="2971800" cy="6858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0B1628"/>
                </a:solidFill>
                <a:latin typeface="Aptos"/>
              </a:rPr>
              <a:t>VIDEO ≠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749039"/>
            <a:ext cx="2971800" cy="1143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637381"/>
                </a:solidFill>
                <a:latin typeface="Aptos"/>
              </a:rPr>
              <a:t>Tutorials show the procedure, but cannot reliably detect a learner's wrong, skipped or out-of-order physical step.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240280"/>
            <a:ext cx="3429000" cy="3017520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468880"/>
            <a:ext cx="59436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00ADB5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2971800"/>
            <a:ext cx="2971800" cy="6858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0B1628"/>
                </a:solidFill>
                <a:latin typeface="Aptos"/>
              </a:rPr>
              <a:t>EXPERT TIME DOESN'T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749039"/>
            <a:ext cx="2971800" cy="1143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637381"/>
                </a:solidFill>
                <a:latin typeface="Aptos"/>
              </a:rPr>
              <a:t>Labs, ITIs and vocational programs cannot place an expert beside every learner for every repetition.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240280"/>
            <a:ext cx="3429000" cy="3017520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76488" y="2468880"/>
            <a:ext cx="59436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00ADB5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2971800"/>
            <a:ext cx="2971800" cy="6858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0B1628"/>
                </a:solidFill>
                <a:latin typeface="Aptos"/>
              </a:rPr>
              <a:t>ASSESSMENT IS OFTEN MANUAL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6488" y="3749039"/>
            <a:ext cx="2971800" cy="1143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637381"/>
                </a:solidFill>
                <a:latin typeface="Aptos"/>
              </a:rPr>
              <a:t>Practical competence is difficult to measure consistently, especially across large cohorts and distributed training.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28816"/>
            <a:ext cx="56692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8A97A4"/>
                </a:solidFill>
                <a:latin typeface="Aptos"/>
              </a:rPr>
              <a:t>KRIYA ZERO  •  XYRO  •  iQOO Pune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28816"/>
            <a:ext cx="3657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8A97A4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029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ADB5"/>
                </a:solidFill>
                <a:latin typeface="Aptos"/>
              </a:rPr>
              <a:t>THE INVENTION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0B1628"/>
                </a:solidFill>
                <a:latin typeface="Aptos"/>
              </a:rPr>
              <a:t>A fresh demonstration becomes a reusable 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607040" cy="53035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637381"/>
                </a:solidFill>
                <a:latin typeface="Aptos"/>
              </a:rPr>
              <a:t>KRIYA turns a single structured physical demonstration into a Skill Capsule: steps, dependencies, visual checkpoints and assessment logic.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31720"/>
            <a:ext cx="2487168" cy="3154680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2578608"/>
            <a:ext cx="475488" cy="475488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633472"/>
            <a:ext cx="475488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246120"/>
            <a:ext cx="210312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0B1628"/>
                </a:solidFill>
                <a:latin typeface="Aptos"/>
              </a:rPr>
              <a:t>TEACH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785615"/>
            <a:ext cx="2103120" cy="1143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637381"/>
                </a:solidFill>
                <a:latin typeface="Aptos"/>
              </a:rPr>
              <a:t>Expert demonstrates once while the phone observes the workspace.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8" y="3493008"/>
            <a:ext cx="384048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200" b="1">
                <a:solidFill>
                  <a:srgbClr val="00ADB5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2331720"/>
            <a:ext cx="2487168" cy="3154680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30168" y="2578608"/>
            <a:ext cx="475488" cy="475488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633472"/>
            <a:ext cx="475488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3246120"/>
            <a:ext cx="210312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0B1628"/>
                </a:solidFill>
                <a:latin typeface="Aptos"/>
              </a:rPr>
              <a:t>COMPILE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3785615"/>
            <a:ext cx="2103120" cy="1143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637381"/>
                </a:solidFill>
                <a:latin typeface="Aptos"/>
              </a:rPr>
              <a:t>KRIYA builds ordered checkpoints and an executable procedure graph.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52744" y="3493008"/>
            <a:ext cx="384048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200" b="1">
                <a:solidFill>
                  <a:srgbClr val="00ADB5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36792" y="2331720"/>
            <a:ext cx="2487168" cy="3154680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01384" y="2578608"/>
            <a:ext cx="475488" cy="475488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1384" y="2633472"/>
            <a:ext cx="475488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246120"/>
            <a:ext cx="210312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0B1628"/>
                </a:solidFill>
                <a:latin typeface="Aptos"/>
              </a:rPr>
              <a:t>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1384" y="3785615"/>
            <a:ext cx="2103120" cy="1143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637381"/>
                </a:solidFill>
                <a:latin typeface="Aptos"/>
              </a:rPr>
              <a:t>A learner performs the task; wrong or skipped states are rejected.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3493008"/>
            <a:ext cx="384048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200" b="1">
                <a:solidFill>
                  <a:srgbClr val="00ADB5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08008" y="2331720"/>
            <a:ext cx="2487168" cy="3154680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72600" y="2578608"/>
            <a:ext cx="475488" cy="475488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2633472"/>
            <a:ext cx="475488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3246120"/>
            <a:ext cx="210312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0B1628"/>
                </a:solidFill>
                <a:latin typeface="Aptos"/>
              </a:rPr>
              <a:t>ASSESS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785615"/>
            <a:ext cx="2103120" cy="1143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637381"/>
                </a:solidFill>
                <a:latin typeface="Aptos"/>
              </a:rPr>
              <a:t>Completion, corrections and sequence errors become evidence-backed metrics.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28816"/>
            <a:ext cx="56692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8A97A4"/>
                </a:solidFill>
                <a:latin typeface="Aptos"/>
              </a:rPr>
              <a:t>KRIYA ZERO  •  XYRO  •  iQOO Pune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528816"/>
            <a:ext cx="3657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8A97A4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029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ADB5"/>
                </a:solidFill>
                <a:latin typeface="Aptos"/>
              </a:rPr>
              <a:t>WHY KRIYA 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Not another video-to-SOP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607040" cy="53035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CBD8E1"/>
                </a:solidFill>
                <a:latin typeface="Aptos"/>
              </a:rPr>
              <a:t>The defensible wedge is zero-authoring physical verification: the verifier is created from the demonstration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31720"/>
            <a:ext cx="10744200" cy="960120"/>
          </a:xfrm>
          <a:prstGeom prst="roundRect">
            <a:avLst/>
          </a:prstGeom>
          <a:solidFill>
            <a:srgbClr val="182D45"/>
          </a:solidFill>
          <a:ln>
            <a:solidFill>
              <a:srgbClr val="2B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27432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Video tutorials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4760" y="2532888"/>
            <a:ext cx="329184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DAE4EB"/>
                </a:solidFill>
                <a:latin typeface="Aptos"/>
              </a:rPr>
              <a:t>Show instructions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2532888"/>
            <a:ext cx="384048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DAE4EB"/>
                </a:solidFill>
                <a:latin typeface="Aptos"/>
              </a:rPr>
              <a:t>No live execution verification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502152"/>
            <a:ext cx="10744200" cy="960120"/>
          </a:xfrm>
          <a:prstGeom prst="roundRect">
            <a:avLst/>
          </a:prstGeom>
          <a:solidFill>
            <a:srgbClr val="182D45"/>
          </a:solidFill>
          <a:ln>
            <a:solidFill>
              <a:srgbClr val="2B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730752"/>
            <a:ext cx="27432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Digital SOP / AR work instructions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3703320"/>
            <a:ext cx="329184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DAE4EB"/>
                </a:solidFill>
                <a:latin typeface="Aptos"/>
              </a:rPr>
              <a:t>Guide predefined procedures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3703320"/>
            <a:ext cx="384048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DAE4EB"/>
                </a:solidFill>
                <a:latin typeface="Aptos"/>
              </a:rPr>
              <a:t>Procedure/checkpoints are authored beforehand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72584"/>
            <a:ext cx="10744200" cy="960120"/>
          </a:xfrm>
          <a:prstGeom prst="roundRect">
            <a:avLst/>
          </a:prstGeom>
          <a:solidFill>
            <a:srgbClr val="085B62"/>
          </a:solidFill>
          <a:ln>
            <a:solidFill>
              <a:srgbClr val="2B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901184"/>
            <a:ext cx="27432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KRIYA ZERO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873752"/>
            <a:ext cx="329184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DAE4EB"/>
                </a:solidFill>
                <a:latin typeface="Aptos"/>
              </a:rPr>
              <a:t>Learns fresh checkpoints from demonstration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4873752"/>
            <a:ext cx="384048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DAE4EB"/>
                </a:solidFill>
                <a:latin typeface="Aptos"/>
              </a:rPr>
              <a:t>Immediately becomes instructor + verifier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97880"/>
            <a:ext cx="12801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00ADB5"/>
                </a:solidFill>
                <a:latin typeface="Aptos"/>
              </a:rPr>
              <a:t>Safe novelty claim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5843016"/>
            <a:ext cx="9144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0">
                <a:solidFill>
                  <a:srgbClr val="BECEDA"/>
                </a:solidFill>
                <a:latin typeface="Aptos"/>
              </a:rPr>
              <a:t>Learns previously unseen, visually observable structured procedures from one demonstration and creates reusable verification checkpoints without manual procedure authoring.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528816"/>
            <a:ext cx="56692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A9B8C5"/>
                </a:solidFill>
                <a:latin typeface="Aptos"/>
              </a:rPr>
              <a:t>KRIYA ZERO  •  XYRO  •  iQOO Pune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3657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A9B8C5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029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ADB5"/>
                </a:solidFill>
                <a:latin typeface="Aptos"/>
              </a:rPr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0B1628"/>
                </a:solidFill>
                <a:latin typeface="Aptos"/>
              </a:rPr>
              <a:t>AI/perception provides evidence; deterministic logic owns PASS/FAIL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607040" cy="53035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637381"/>
                </a:solidFill>
                <a:latin typeface="Aptos"/>
              </a:rPr>
              <a:t>This split keeps the demo robust and makes future local models replaceable without rewriting the procedure engine.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31720"/>
            <a:ext cx="1938528" cy="2331720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651760"/>
            <a:ext cx="16459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500" b="1">
                <a:solidFill>
                  <a:srgbClr val="0B1628"/>
                </a:solidFill>
                <a:latin typeface="Aptos"/>
              </a:rPr>
              <a:t>CameraX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3310128"/>
            <a:ext cx="1645920" cy="8046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637381"/>
                </a:solidFill>
                <a:latin typeface="Aptos"/>
              </a:rPr>
              <a:t>Live rear-camera frames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591" y="3182112"/>
            <a:ext cx="329184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00ADB5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2331720"/>
            <a:ext cx="1938528" cy="2331720"/>
          </a:xfrm>
          <a:prstGeom prst="roundRect">
            <a:avLst/>
          </a:prstGeom>
          <a:solidFill>
            <a:srgbClr val="DC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35224" y="2651760"/>
            <a:ext cx="16459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500" b="1">
                <a:solidFill>
                  <a:srgbClr val="0B1628"/>
                </a:solidFill>
                <a:latin typeface="Aptos"/>
              </a:rPr>
              <a:t>Visual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5224" y="3310128"/>
            <a:ext cx="1645920" cy="8046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637381"/>
                </a:solidFill>
                <a:latin typeface="Aptos"/>
              </a:rPr>
              <a:t>Learned checkpoint fingerprints + stabilization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3182112"/>
            <a:ext cx="329184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00ADB5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331720"/>
            <a:ext cx="1938528" cy="2331720"/>
          </a:xfrm>
          <a:prstGeom prst="roundRect">
            <a:avLst/>
          </a:prstGeom>
          <a:solidFill>
            <a:srgbClr val="DC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21224" y="2651760"/>
            <a:ext cx="16459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500" b="1">
                <a:solidFill>
                  <a:srgbClr val="0B1628"/>
                </a:solidFill>
                <a:latin typeface="Aptos"/>
              </a:rPr>
              <a:t>Skill Capsule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1224" y="3310128"/>
            <a:ext cx="1645920" cy="8046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637381"/>
                </a:solidFill>
                <a:latin typeface="Aptos"/>
              </a:rPr>
              <a:t>States • dependencies • verifier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3182112"/>
            <a:ext cx="329184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00ADB5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2331720"/>
            <a:ext cx="1938528" cy="2331720"/>
          </a:xfrm>
          <a:prstGeom prst="roundRect">
            <a:avLst/>
          </a:prstGeom>
          <a:solidFill>
            <a:srgbClr val="DC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07224" y="2651760"/>
            <a:ext cx="16459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500" b="1">
                <a:solidFill>
                  <a:srgbClr val="0B1628"/>
                </a:solidFill>
                <a:latin typeface="Aptos"/>
              </a:rPr>
              <a:t>Verification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7224" y="3310128"/>
            <a:ext cx="1645920" cy="8046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637381"/>
                </a:solidFill>
                <a:latin typeface="Aptos"/>
              </a:rPr>
              <a:t>PASS • FAIL • sequence error • correction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8592" y="3182112"/>
            <a:ext cx="329184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00ADB5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2331720"/>
            <a:ext cx="1938528" cy="2331720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2651760"/>
            <a:ext cx="16459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500" b="1">
                <a:solidFill>
                  <a:srgbClr val="0B1628"/>
                </a:solidFill>
                <a:latin typeface="Aptos"/>
              </a:rPr>
              <a:t>Assessment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3224" y="3310128"/>
            <a:ext cx="1645920" cy="8046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637381"/>
                </a:solidFill>
                <a:latin typeface="Aptos"/>
              </a:rPr>
              <a:t>Completion • first-attempt accuracy • assistance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74920"/>
            <a:ext cx="9784080" cy="777240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89888" y="5303520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1">
                <a:solidFill>
                  <a:srgbClr val="00ADB5"/>
                </a:solidFill>
                <a:latin typeface="Aptos"/>
              </a:rPr>
              <a:t>Current working prototype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230368"/>
            <a:ext cx="72694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162030"/>
                </a:solidFill>
                <a:latin typeface="Aptos"/>
              </a:rPr>
              <a:t>Android • CameraX • learned visual checkpoints • five-frame stabilization • temporal skip detection • assessment • tests • CI/APK 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28816"/>
            <a:ext cx="56692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8A97A4"/>
                </a:solidFill>
                <a:latin typeface="Aptos"/>
              </a:rPr>
              <a:t>KRIYA ZERO  •  XYRO  •  iQOO Pune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3657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8A97A4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029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ADB5"/>
                </a:solidFill>
                <a:latin typeface="Aptos"/>
              </a:rPr>
              <a:t>THE 20-SECOND JURY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0B1628"/>
                </a:solidFill>
                <a:latin typeface="Aptos"/>
              </a:rPr>
              <a:t>Teach something fresh → make a mistake → KRIYA catches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607040" cy="53035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637381"/>
                </a:solidFill>
                <a:latin typeface="Aptos"/>
              </a:rPr>
              <a:t>The demo proves the core idea without relying on a pre-authored procedure.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48840"/>
            <a:ext cx="3291840" cy="3520440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450592"/>
            <a:ext cx="11887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0ADB5"/>
                </a:solidFill>
                <a:latin typeface="Aptos"/>
              </a:rPr>
              <a:t>TEACH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971800"/>
            <a:ext cx="27432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0B1628"/>
                </a:solidFill>
                <a:latin typeface="Aptos"/>
              </a:rPr>
              <a:t>Expert creates 3–5 visually distinct tabletop states in front of the phone.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4187952"/>
            <a:ext cx="256032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637381"/>
                </a:solidFill>
                <a:latin typeface="Aptos"/>
              </a:rPr>
              <a:t>Checkpoint 01 learned
Checkpoint 02 learned
Checkpoint 03 learned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148840"/>
            <a:ext cx="3291840" cy="3520440"/>
          </a:xfrm>
          <a:prstGeom prst="roundRect">
            <a:avLst/>
          </a:prstGeom>
          <a:solidFill>
            <a:srgbClr val="FF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2450592"/>
            <a:ext cx="20116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D94646"/>
                </a:solidFill>
                <a:latin typeface="Aptos"/>
              </a:rPr>
              <a:t>INTENTIONAL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971800"/>
            <a:ext cx="269748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0B1628"/>
                </a:solidFill>
                <a:latin typeface="Aptos"/>
              </a:rPr>
              <a:t>Learner skips or performs the wrong state.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4069080"/>
            <a:ext cx="2651760" cy="1143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1">
                <a:solidFill>
                  <a:srgbClr val="D94646"/>
                </a:solidFill>
                <a:latin typeface="Aptos"/>
              </a:rPr>
              <a:t>EXECUTION DIVERGENCE
Expected: Step 2
Observed: wrong / later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48840"/>
            <a:ext cx="3291840" cy="3520440"/>
          </a:xfrm>
          <a:prstGeom prst="roundRect">
            <a:avLst/>
          </a:prstGeom>
          <a:solidFill>
            <a:srgbClr val="EF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450592"/>
            <a:ext cx="19202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2D9C6E"/>
                </a:solidFill>
                <a:latin typeface="Aptos"/>
              </a:rPr>
              <a:t>CORRECT +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971800"/>
            <a:ext cx="269748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0B1628"/>
                </a:solidFill>
                <a:latin typeface="Aptos"/>
              </a:rPr>
              <a:t>Learner fixes the state without restarting.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4069080"/>
            <a:ext cx="2651760" cy="1143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1">
                <a:solidFill>
                  <a:srgbClr val="2D9C6E"/>
                </a:solidFill>
                <a:latin typeface="Aptos"/>
              </a:rPr>
              <a:t>✓ Correction verified
✓ Procedure complete
Skill report generated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28816"/>
            <a:ext cx="56692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8A97A4"/>
                </a:solidFill>
                <a:latin typeface="Aptos"/>
              </a:rPr>
              <a:t>KRIYA ZERO  •  XYRO  •  iQOO Pune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28816"/>
            <a:ext cx="3657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8A97A4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029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ADB5"/>
                </a:solidFill>
                <a:latin typeface="Aptos"/>
              </a:rPr>
              <a:t>IMPACT &amp;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0B1628"/>
                </a:solidFill>
                <a:latin typeface="Aptos"/>
              </a:rPr>
              <a:t>A practical-skill layer for education and workforce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607040" cy="53035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637381"/>
                </a:solidFill>
                <a:latin typeface="Aptos"/>
              </a:rPr>
              <a:t>Start with structured tabletop tasks; scale the same Skill Capsule architecture as local perception gets stronger.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5074920" cy="1298448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450592"/>
            <a:ext cx="214884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0B1628"/>
                </a:solidFill>
                <a:latin typeface="Aptos"/>
              </a:rPr>
              <a:t>Engineering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23160"/>
            <a:ext cx="2468880" cy="6583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637381"/>
                </a:solidFill>
                <a:latin typeface="Aptos"/>
              </a:rPr>
              <a:t>Circuit assembly, instrumentation, practical procedures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240280"/>
            <a:ext cx="5074920" cy="1298448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2450592"/>
            <a:ext cx="214884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0B1628"/>
                </a:solidFill>
                <a:latin typeface="Aptos"/>
              </a:rPr>
              <a:t>ITIs &amp; vocational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423160"/>
            <a:ext cx="2468880" cy="6583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637381"/>
                </a:solidFill>
                <a:latin typeface="Aptos"/>
              </a:rPr>
              <a:t>Repeatable hands-on skill guidance and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840480"/>
            <a:ext cx="5074920" cy="1298448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4050792"/>
            <a:ext cx="214884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0B1628"/>
                </a:solidFill>
                <a:latin typeface="Aptos"/>
              </a:rPr>
              <a:t>Industrial workforce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4023360"/>
            <a:ext cx="2468880" cy="6583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637381"/>
                </a:solidFill>
                <a:latin typeface="Aptos"/>
              </a:rPr>
              <a:t>Onboarding, maintenance sequences, standardized practice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840480"/>
            <a:ext cx="5074920" cy="1298448"/>
          </a:xfrm>
          <a:prstGeom prst="roundRect">
            <a:avLst/>
          </a:prstGeom>
          <a:solidFill>
            <a:srgbClr val="F2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4050792"/>
            <a:ext cx="214884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0B1628"/>
                </a:solidFill>
                <a:latin typeface="Aptos"/>
              </a:rPr>
              <a:t>Field technicians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023360"/>
            <a:ext cx="2468880" cy="6583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637381"/>
                </a:solidFill>
                <a:latin typeface="Aptos"/>
              </a:rPr>
              <a:t>Guided procedures where an expert cannot be physically present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532120"/>
            <a:ext cx="10698480" cy="566928"/>
          </a:xfrm>
          <a:prstGeom prst="roundRect">
            <a:avLst/>
          </a:prstGeom>
          <a:solidFill>
            <a:srgbClr val="DC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678424"/>
            <a:ext cx="102412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162030"/>
                </a:solidFill>
                <a:latin typeface="Aptos"/>
              </a:rPr>
              <a:t>Feasible MVP scope: visually observable, structured tabletop procedures — deliberately narrow enough to work, broad enough to matter.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528816"/>
            <a:ext cx="56692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8A97A4"/>
                </a:solidFill>
                <a:latin typeface="Aptos"/>
              </a:rPr>
              <a:t>KRIYA ZERO  •  XYRO  •  iQOO Pune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3657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8A97A4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029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ADB5"/>
                </a:solidFill>
                <a:latin typeface="Aptos"/>
              </a:rPr>
              <a:t>WHY IQOO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The phone is the product, not a remote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607040" cy="53035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CBD8E1"/>
                </a:solidFill>
                <a:latin typeface="Aptos"/>
              </a:rPr>
              <a:t>Camera, on-device perception and edge execution are central to KRIYA's value — ideal for an iQOO phone-first hackathon.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1417320" cy="347472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359151"/>
            <a:ext cx="1271016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ANDROID-FIRST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2331720"/>
            <a:ext cx="1417320" cy="347472"/>
          </a:xfrm>
          <a:prstGeom prst="roundRect">
            <a:avLst/>
          </a:prstGeom>
          <a:solidFill>
            <a:srgbClr val="216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96312" y="2359151"/>
            <a:ext cx="1271016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PHONE CAMERA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2331720"/>
            <a:ext cx="1325880" cy="347472"/>
          </a:xfrm>
          <a:prstGeom prst="roundRect">
            <a:avLst/>
          </a:prstGeom>
          <a:solidFill>
            <a:srgbClr val="305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2359151"/>
            <a:ext cx="1179576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LOCAL-FIRST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2331720"/>
            <a:ext cx="1920240" cy="347472"/>
          </a:xfrm>
          <a:prstGeom prst="roundRect">
            <a:avLst/>
          </a:prstGeom>
          <a:solidFill>
            <a:srgbClr val="584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96712" y="2359151"/>
            <a:ext cx="1773936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OFFLINE-CRITICAL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27248"/>
            <a:ext cx="192024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0ADB5"/>
                </a:solidFill>
                <a:latin typeface="Aptos"/>
              </a:rPr>
              <a:t>What exists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5166360" cy="1143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Working Android foundation, live CameraX input, learned checkpoints, deterministic verifier, sequence-error detection, assessment logic, persistence backend, unit tests and CI-generated APK.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27248"/>
            <a:ext cx="219456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0ADB5"/>
                </a:solidFill>
                <a:latin typeface="Aptos"/>
              </a:rPr>
              <a:t>Next at the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566160"/>
            <a:ext cx="4800600" cy="1143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Strengthen viewpoint robustness with local image embeddings, add local narration, calibrate on the iQOO device, and polish the judge-facing demo — without weakening the reliable deterministic core.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57800"/>
            <a:ext cx="3657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KRIYA ZERO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760720"/>
            <a:ext cx="7498079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C6D6E1"/>
                </a:solidFill>
                <a:latin typeface="Aptos"/>
              </a:rPr>
              <a:t>Show it once. Learn it anywhere. Prove you can do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5797296"/>
            <a:ext cx="3931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1">
                <a:solidFill>
                  <a:srgbClr val="00ADB5"/>
                </a:solidFill>
                <a:latin typeface="Aptos"/>
              </a:rPr>
              <a:t>github.com/omghotekar01-dotcom/KRIYA-ZERO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528816"/>
            <a:ext cx="56692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00" b="0">
                <a:solidFill>
                  <a:srgbClr val="A9B8C5"/>
                </a:solidFill>
                <a:latin typeface="Aptos"/>
              </a:rPr>
              <a:t>KRIYA ZERO  •  XYRO  •  iQOO Pune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28816"/>
            <a:ext cx="3657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A9B8C5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